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embeddedFontLst>
    <p:embeddedFont>
      <p:font typeface="Raleway"/>
      <p:regular r:id="rId26"/>
      <p:bold r:id="rId27"/>
      <p:italic r:id="rId28"/>
      <p:boldItalic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Lato"/>
      <p:regular r:id="rId34"/>
      <p:bold r:id="rId35"/>
      <p:italic r:id="rId36"/>
      <p:boldItalic r:id="rId37"/>
    </p:embeddedFont>
    <p:embeddedFont>
      <p:font typeface="Corbel"/>
      <p:regular r:id="rId38"/>
      <p:bold r:id="rId39"/>
      <p:italic r:id="rId40"/>
      <p:boldItalic r:id="rId41"/>
    </p:embeddedFont>
    <p:embeddedFont>
      <p:font typeface="Tomorrow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orbel-italic.fntdata"/><Relationship Id="rId20" Type="http://schemas.openxmlformats.org/officeDocument/2006/relationships/slide" Target="slides/slide16.xml"/><Relationship Id="rId42" Type="http://schemas.openxmlformats.org/officeDocument/2006/relationships/font" Target="fonts/Tomorrow-regular.fntdata"/><Relationship Id="rId41" Type="http://schemas.openxmlformats.org/officeDocument/2006/relationships/font" Target="fonts/Corbel-boldItalic.fntdata"/><Relationship Id="rId22" Type="http://schemas.openxmlformats.org/officeDocument/2006/relationships/slide" Target="slides/slide18.xml"/><Relationship Id="rId44" Type="http://schemas.openxmlformats.org/officeDocument/2006/relationships/font" Target="fonts/Tomorrow-italic.fntdata"/><Relationship Id="rId21" Type="http://schemas.openxmlformats.org/officeDocument/2006/relationships/slide" Target="slides/slide17.xml"/><Relationship Id="rId43" Type="http://schemas.openxmlformats.org/officeDocument/2006/relationships/font" Target="fonts/Tomorrow-bold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5" Type="http://schemas.openxmlformats.org/officeDocument/2006/relationships/font" Target="fonts/Tomorrow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aleway-regular.fntdata"/><Relationship Id="rId25" Type="http://schemas.openxmlformats.org/officeDocument/2006/relationships/slide" Target="slides/slide21.xml"/><Relationship Id="rId28" Type="http://schemas.openxmlformats.org/officeDocument/2006/relationships/font" Target="fonts/Raleway-italic.fntdata"/><Relationship Id="rId27" Type="http://schemas.openxmlformats.org/officeDocument/2006/relationships/font" Target="fonts/Ralew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aleway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-bold.fntdata"/><Relationship Id="rId30" Type="http://schemas.openxmlformats.org/officeDocument/2006/relationships/font" Target="fonts/Roboto-regular.fntdata"/><Relationship Id="rId11" Type="http://schemas.openxmlformats.org/officeDocument/2006/relationships/slide" Target="slides/slide7.xml"/><Relationship Id="rId33" Type="http://schemas.openxmlformats.org/officeDocument/2006/relationships/font" Target="fonts/Roboto-boldItalic.fntdata"/><Relationship Id="rId10" Type="http://schemas.openxmlformats.org/officeDocument/2006/relationships/slide" Target="slides/slide6.xml"/><Relationship Id="rId32" Type="http://schemas.openxmlformats.org/officeDocument/2006/relationships/font" Target="fonts/Roboto-italic.fntdata"/><Relationship Id="rId13" Type="http://schemas.openxmlformats.org/officeDocument/2006/relationships/slide" Target="slides/slide9.xml"/><Relationship Id="rId35" Type="http://schemas.openxmlformats.org/officeDocument/2006/relationships/font" Target="fonts/Lato-bold.fntdata"/><Relationship Id="rId12" Type="http://schemas.openxmlformats.org/officeDocument/2006/relationships/slide" Target="slides/slide8.xml"/><Relationship Id="rId34" Type="http://schemas.openxmlformats.org/officeDocument/2006/relationships/font" Target="fonts/Lato-regular.fntdata"/><Relationship Id="rId15" Type="http://schemas.openxmlformats.org/officeDocument/2006/relationships/slide" Target="slides/slide11.xml"/><Relationship Id="rId37" Type="http://schemas.openxmlformats.org/officeDocument/2006/relationships/font" Target="fonts/Lato-boldItalic.fntdata"/><Relationship Id="rId14" Type="http://schemas.openxmlformats.org/officeDocument/2006/relationships/slide" Target="slides/slide10.xml"/><Relationship Id="rId36" Type="http://schemas.openxmlformats.org/officeDocument/2006/relationships/font" Target="fonts/Lato-italic.fntdata"/><Relationship Id="rId17" Type="http://schemas.openxmlformats.org/officeDocument/2006/relationships/slide" Target="slides/slide13.xml"/><Relationship Id="rId39" Type="http://schemas.openxmlformats.org/officeDocument/2006/relationships/font" Target="fonts/Corbel-bold.fntdata"/><Relationship Id="rId16" Type="http://schemas.openxmlformats.org/officeDocument/2006/relationships/slide" Target="slides/slide12.xml"/><Relationship Id="rId38" Type="http://schemas.openxmlformats.org/officeDocument/2006/relationships/font" Target="fonts/Corbel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c35b607eaf_0_2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3c35b607eaf_0_27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g3c35b607eaf_0_2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c35701d7d6_0_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c35701d7d6_0_2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c35701d7d6_0_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f795921c3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f795921c3c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f795921c3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5d846da4d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95d846da4d_0_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g395d846da4d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5d846da4d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5d846da4d_0_67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95d846da4d_0_6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5d846da4d_0_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5d846da4d_0_10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g395d846da4d_0_1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95d846da4d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95d846da4d_0_11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95d846da4d_0_1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5d846da4d_0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5d846da4d_0_135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95d846da4d_0_1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795921c3c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795921c3c_0_6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f795921c3c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795921c3c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795921c3c_0_1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f795921c3c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5d846da4d_0_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5d846da4d_0_17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95d846da4d_0_1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5d846da4d_0_1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5d846da4d_0_18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95d846da4d_0_18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f3fcd11b9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f3fcd11b95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f3fcd11b9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3fcd11b95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3fcd11b95_0_1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f3fcd11b95_0_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5d846da4d_0_2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95d846da4d_0_203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95d846da4d_0_20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95d846da4d_0_2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95d846da4d_0_21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95d846da4d_0_21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5d846da4d_0_2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5d846da4d_0_21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95d846da4d_0_2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cc265b9f91_0_0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g3cc265b9f91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95d846da4d_0_23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95d846da4d_0_2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c35701d7d6_0_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c35701d7d6_0_89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c35701d7d6_0_8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cbc0292c21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cbc0292c21_0_1:notes"/>
          <p:cNvSpPr txBox="1"/>
          <p:nvPr>
            <p:ph idx="1" type="body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cbc0292c21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" name="Google Shape;16;p2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17" name="Google Shape;17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" name="Google Shape;19;p2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B42526"/>
              </a:buClr>
              <a:buSzPts val="5300"/>
              <a:buFont typeface="Roboto"/>
              <a:buNone/>
              <a:defRPr sz="5300">
                <a:solidFill>
                  <a:srgbClr val="B4252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600"/>
              <a:buNone/>
              <a:defRPr sz="5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" name="Google Shape;20;p2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0303"/>
              </a:buClr>
              <a:buSzPts val="2900"/>
              <a:buFont typeface="Roboto"/>
              <a:buNone/>
              <a:defRPr sz="2900">
                <a:solidFill>
                  <a:srgbClr val="B0030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" name="Google Shape;21;p2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107200" y="1405133"/>
            <a:ext cx="994500" cy="32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FFFFFF"/>
              </a:solidFill>
            </a:endParaRPr>
          </a:p>
        </p:txBody>
      </p:sp>
      <p:pic>
        <p:nvPicPr>
          <p:cNvPr id="23" name="Google Shape;23;p2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/>
          <p:nvPr>
            <p:ph type="title"/>
          </p:nvPr>
        </p:nvSpPr>
        <p:spPr>
          <a:xfrm>
            <a:off x="551384" y="116632"/>
            <a:ext cx="11089200" cy="12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ts val="1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" type="body"/>
          </p:nvPr>
        </p:nvSpPr>
        <p:spPr>
          <a:xfrm>
            <a:off x="551384" y="1556792"/>
            <a:ext cx="11089200" cy="48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900"/>
              </a:spcBef>
              <a:spcAft>
                <a:spcPts val="0"/>
              </a:spcAft>
              <a:buSzPts val="3200"/>
              <a:buChar char="●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■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●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SzPts val="3200"/>
              <a:buChar char="○"/>
              <a:defRPr sz="3200"/>
            </a:lvl5pPr>
            <a:lvl6pPr indent="-431800" lvl="5" marL="27432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■"/>
              <a:defRPr sz="3200"/>
            </a:lvl6pPr>
            <a:lvl7pPr indent="-431800" lvl="6" marL="32004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●"/>
              <a:defRPr sz="3200"/>
            </a:lvl7pPr>
            <a:lvl8pPr indent="-431800" lvl="7" marL="3657600" algn="l">
              <a:lnSpc>
                <a:spcPct val="90000"/>
              </a:lnSpc>
              <a:spcBef>
                <a:spcPts val="2100"/>
              </a:spcBef>
              <a:spcAft>
                <a:spcPts val="0"/>
              </a:spcAft>
              <a:buClr>
                <a:srgbClr val="272F6D"/>
              </a:buClr>
              <a:buSzPts val="3200"/>
              <a:buChar char="○"/>
              <a:defRPr sz="3200"/>
            </a:lvl8pPr>
            <a:lvl9pPr indent="-431800" lvl="8" marL="4114800" algn="l">
              <a:lnSpc>
                <a:spcPct val="90000"/>
              </a:lnSpc>
              <a:spcBef>
                <a:spcPts val="2100"/>
              </a:spcBef>
              <a:spcAft>
                <a:spcPts val="2100"/>
              </a:spcAft>
              <a:buClr>
                <a:srgbClr val="272F6D"/>
              </a:buClr>
              <a:buSzPts val="3200"/>
              <a:buChar char="■"/>
              <a:defRPr sz="32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" name="Google Shape;29;p4"/>
          <p:cNvGrpSpPr/>
          <p:nvPr/>
        </p:nvGrpSpPr>
        <p:grpSpPr>
          <a:xfrm>
            <a:off x="1107036" y="1588427"/>
            <a:ext cx="994316" cy="61102"/>
            <a:chOff x="4580561" y="2589004"/>
            <a:chExt cx="1064464" cy="25200"/>
          </a:xfrm>
        </p:grpSpPr>
        <p:sp>
          <p:nvSpPr>
            <p:cNvPr id="30" name="Google Shape;30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" name="Google Shape;32;p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431800" lvl="0" marL="45720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200"/>
              <a:buFont typeface="Calibri"/>
              <a:buChar char="●"/>
              <a:defRPr sz="3200"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2400"/>
              <a:buFont typeface="Roboto"/>
              <a:buChar char="○"/>
              <a:defRPr sz="2400"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algn="just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SzPts val="15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algn="just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SzPts val="15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088233" y="1567800"/>
            <a:ext cx="1143600" cy="26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oboto"/>
              <a:buNone/>
              <a:defRPr sz="4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 sz="3500"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77311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Font typeface="Raleway"/>
              <a:buNone/>
              <a:defRPr b="1" sz="37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865613"/>
            <a:ext cx="11360700" cy="41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65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700"/>
              <a:buFont typeface="Lato"/>
              <a:buChar char="●"/>
              <a:defRPr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23850" lvl="1" marL="914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23850" lvl="2" marL="1371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23850" lvl="3" marL="18288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23850" lvl="4" marL="22860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23850" lvl="5" marL="27432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23850" lvl="6" marL="32004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●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23850" lvl="7" marL="365760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Lato"/>
              <a:buChar char="○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23850" lvl="8" marL="411480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accent1"/>
              </a:buClr>
              <a:buSzPts val="1500"/>
              <a:buFont typeface="Lato"/>
              <a:buChar char="■"/>
              <a:defRPr sz="15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81736" y="6333134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34470" l="15853" r="17114" t="31506"/>
          <a:stretch/>
        </p:blipFill>
        <p:spPr>
          <a:xfrm>
            <a:off x="101600" y="-1633"/>
            <a:ext cx="1766324" cy="65203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hyperlink" Target="https://materialpublic.imd.ufrn.br/curso/disciplina/3/16/2/6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9.png"/><Relationship Id="rId7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deivisontakatu/aula-sistemas-operacionais/blob/main/Tarefa/Tarefa%20Formata%C3%A7%C3%A3o.md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hyperlink" Target="https://canaltech.com.br/hardware/raspberry-pi-5-entra-na-era-da-ia-com-novo-modulo-de-expansao-291751/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Relationship Id="rId4" Type="http://schemas.openxmlformats.org/officeDocument/2006/relationships/hyperlink" Target="https://www.ubuy.com.br/pt/product/8XSX8P8I-sony-playstation-4-slim-console-500gb-jet-black-ps4" TargetMode="External"/><Relationship Id="rId5" Type="http://schemas.openxmlformats.org/officeDocument/2006/relationships/hyperlink" Target="https://www.ubuy.com.br/pt/product/8XSX8P8I-sony-playstation-4-slim-console-500gb-jet-black-ps4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>
                <a:solidFill>
                  <a:srgbClr val="202529"/>
                </a:solidFill>
              </a:rPr>
              <a:t>Estrutura e Arquitetura de Sistemas Operacionais</a:t>
            </a:r>
            <a:endParaRPr sz="4500">
              <a:solidFill>
                <a:srgbClr val="202529"/>
              </a:solidFill>
            </a:endParaRPr>
          </a:p>
        </p:txBody>
      </p:sp>
      <p:sp>
        <p:nvSpPr>
          <p:cNvPr id="43" name="Google Shape;43;p5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Sumário</a:t>
            </a:r>
            <a:endParaRPr b="1"/>
          </a:p>
        </p:txBody>
      </p:sp>
      <p:sp>
        <p:nvSpPr>
          <p:cNvPr id="50" name="Google Shape;50;p6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Componentes do Sistema Operacional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Kernel: O Núcleo do Sistema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Modos de Execução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Processos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Memória e Espaço de Endereçamento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Sistema de Arquivos</a:t>
            </a:r>
            <a:endParaRPr/>
          </a:p>
          <a:p>
            <a:pPr indent="-431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Char char="●"/>
            </a:pPr>
            <a:r>
              <a:rPr lang="pt-BR"/>
              <a:t>Entrada/Saída e Drivers de Dispositivos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Sem um sistema operacional, cada aplicação precisaria:</a:t>
            </a:r>
            <a:endParaRPr sz="2600"/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○"/>
            </a:pP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Controlar diretamente a memória;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○"/>
            </a:pP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Acessar diretamente o processador;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○"/>
            </a:pP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Controlar cada dispositivo;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○"/>
            </a:pP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Gerenciar arquivos;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○"/>
            </a:pP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Implementar mecanismos de segurança;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68300" lvl="1" marL="914400" rtl="0" algn="just">
              <a:spcBef>
                <a:spcPts val="0"/>
              </a:spcBef>
              <a:spcAft>
                <a:spcPts val="0"/>
              </a:spcAft>
              <a:buSzPts val="2200"/>
              <a:buFont typeface="Calibri"/>
              <a:buChar char="○"/>
            </a:pPr>
            <a:r>
              <a:rPr lang="pt-BR" sz="2200">
                <a:latin typeface="Calibri"/>
                <a:ea typeface="Calibri"/>
                <a:cs typeface="Calibri"/>
                <a:sym typeface="Calibri"/>
              </a:rPr>
              <a:t>Conhecer detalhes específicos de cada hardware.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just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pt-BR" sz="2600"/>
              <a:t>O SO fornece uma camada de abstração entre aplicações e hardware.</a:t>
            </a:r>
            <a:endParaRPr sz="2600"/>
          </a:p>
        </p:txBody>
      </p:sp>
      <p:sp>
        <p:nvSpPr>
          <p:cNvPr id="57" name="Google Shape;57;p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Calibri"/>
                <a:ea typeface="Calibri"/>
                <a:cs typeface="Calibri"/>
                <a:sym typeface="Calibri"/>
              </a:rPr>
              <a:t>Por que precisamos de um SO?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Componentes do Sistema Operacional</a:t>
            </a:r>
            <a:endParaRPr/>
          </a:p>
        </p:txBody>
      </p:sp>
      <p:sp>
        <p:nvSpPr>
          <p:cNvPr id="64" name="Google Shape;64;p8"/>
          <p:cNvSpPr/>
          <p:nvPr/>
        </p:nvSpPr>
        <p:spPr>
          <a:xfrm>
            <a:off x="962388" y="2195697"/>
            <a:ext cx="5096400" cy="1273500"/>
          </a:xfrm>
          <a:prstGeom prst="roundRect">
            <a:avLst>
              <a:gd fmla="val 1752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ctr" bIns="119775" lIns="119775" spcFirstLastPara="1" rIns="119775" wrap="square" tIns="11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t/>
            </a:r>
            <a:endParaRPr b="0" i="0" sz="18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8"/>
          <p:cNvSpPr/>
          <p:nvPr/>
        </p:nvSpPr>
        <p:spPr>
          <a:xfrm>
            <a:off x="1111054" y="2344361"/>
            <a:ext cx="446100" cy="446100"/>
          </a:xfrm>
          <a:prstGeom prst="roundRect">
            <a:avLst>
              <a:gd fmla="val 26841062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ctr" bIns="119775" lIns="119775" spcFirstLastPara="1" rIns="119775" wrap="square" tIns="11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t/>
            </a:r>
            <a:endParaRPr b="0" i="0" sz="18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66" name="Google Shape;6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3823" y="2467130"/>
            <a:ext cx="200767" cy="200767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8"/>
          <p:cNvSpPr/>
          <p:nvPr/>
        </p:nvSpPr>
        <p:spPr>
          <a:xfrm>
            <a:off x="1111054" y="2865079"/>
            <a:ext cx="18600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41"/>
              <a:buFont typeface="Tomorrow"/>
              <a:buNone/>
            </a:pPr>
            <a:r>
              <a:rPr b="0" i="0" lang="pt-BR" sz="1441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Kernel</a:t>
            </a:r>
            <a:endParaRPr b="0" i="0" sz="14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8"/>
          <p:cNvSpPr/>
          <p:nvPr/>
        </p:nvSpPr>
        <p:spPr>
          <a:xfrm>
            <a:off x="1111054" y="3142130"/>
            <a:ext cx="47988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114"/>
              <a:buFont typeface="Tomorrow"/>
              <a:buNone/>
            </a:pPr>
            <a:r>
              <a:rPr b="0" i="0" lang="pt-BR" sz="1114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Núcleo que gerencia recursos críticos</a:t>
            </a:r>
            <a:endParaRPr b="0" i="0" sz="11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6133213" y="2195697"/>
            <a:ext cx="5096400" cy="1273500"/>
          </a:xfrm>
          <a:prstGeom prst="roundRect">
            <a:avLst>
              <a:gd fmla="val 1752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ctr" bIns="119775" lIns="119775" spcFirstLastPara="1" rIns="119775" wrap="square" tIns="11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t/>
            </a:r>
            <a:endParaRPr b="0" i="0" sz="18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6281877" y="2344361"/>
            <a:ext cx="446100" cy="446100"/>
          </a:xfrm>
          <a:prstGeom prst="roundRect">
            <a:avLst>
              <a:gd fmla="val 26841062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ctr" bIns="119775" lIns="119775" spcFirstLastPara="1" rIns="119775" wrap="square" tIns="11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t/>
            </a:r>
            <a:endParaRPr b="0" i="0" sz="18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1" name="Google Shape;7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4648" y="2467130"/>
            <a:ext cx="200767" cy="200767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8"/>
          <p:cNvSpPr/>
          <p:nvPr/>
        </p:nvSpPr>
        <p:spPr>
          <a:xfrm>
            <a:off x="6281877" y="2865079"/>
            <a:ext cx="27627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41"/>
              <a:buFont typeface="Tomorrow"/>
              <a:buNone/>
            </a:pPr>
            <a:r>
              <a:rPr b="0" i="0" lang="pt-BR" sz="1441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Gerenciamento de Processos</a:t>
            </a:r>
            <a:endParaRPr b="0" i="0" sz="14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6281877" y="3142130"/>
            <a:ext cx="47988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114"/>
              <a:buFont typeface="Tomorrow"/>
              <a:buNone/>
            </a:pPr>
            <a:r>
              <a:rPr b="0" i="0" lang="pt-BR" sz="1114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Execução e controle de programas</a:t>
            </a:r>
            <a:endParaRPr b="0" i="0" sz="11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/>
          <p:nvPr/>
        </p:nvSpPr>
        <p:spPr>
          <a:xfrm>
            <a:off x="962388" y="3543822"/>
            <a:ext cx="5096400" cy="1273500"/>
          </a:xfrm>
          <a:prstGeom prst="roundRect">
            <a:avLst>
              <a:gd fmla="val 1752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ctr" bIns="119775" lIns="119775" spcFirstLastPara="1" rIns="119775" wrap="square" tIns="11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t/>
            </a:r>
            <a:endParaRPr b="0" i="0" sz="18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1111054" y="3692486"/>
            <a:ext cx="446100" cy="446100"/>
          </a:xfrm>
          <a:prstGeom prst="roundRect">
            <a:avLst>
              <a:gd fmla="val 26841062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ctr" bIns="119775" lIns="119775" spcFirstLastPara="1" rIns="119775" wrap="square" tIns="11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t/>
            </a:r>
            <a:endParaRPr b="0" i="0" sz="18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76" name="Google Shape;7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33823" y="3815257"/>
            <a:ext cx="200767" cy="200767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8"/>
          <p:cNvSpPr/>
          <p:nvPr/>
        </p:nvSpPr>
        <p:spPr>
          <a:xfrm>
            <a:off x="1111054" y="4213204"/>
            <a:ext cx="26232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41"/>
              <a:buFont typeface="Tomorrow"/>
              <a:buNone/>
            </a:pPr>
            <a:r>
              <a:rPr b="0" i="0" lang="pt-BR" sz="1441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Gerenciamento de Memória</a:t>
            </a:r>
            <a:endParaRPr b="0" i="0" sz="14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1111054" y="4490255"/>
            <a:ext cx="47988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114"/>
              <a:buFont typeface="Tomorrow"/>
              <a:buNone/>
            </a:pPr>
            <a:r>
              <a:rPr b="0" i="0" lang="pt-BR" sz="1114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Alocação e proteção de memória</a:t>
            </a:r>
            <a:endParaRPr b="0" i="0" sz="11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6133213" y="3543822"/>
            <a:ext cx="5096400" cy="1273500"/>
          </a:xfrm>
          <a:prstGeom prst="roundRect">
            <a:avLst>
              <a:gd fmla="val 1752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ctr" bIns="119775" lIns="119775" spcFirstLastPara="1" rIns="119775" wrap="square" tIns="11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t/>
            </a:r>
            <a:endParaRPr b="0" i="0" sz="18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8"/>
          <p:cNvSpPr/>
          <p:nvPr/>
        </p:nvSpPr>
        <p:spPr>
          <a:xfrm>
            <a:off x="6281877" y="3692486"/>
            <a:ext cx="446100" cy="446100"/>
          </a:xfrm>
          <a:prstGeom prst="roundRect">
            <a:avLst>
              <a:gd fmla="val 26841062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ctr" bIns="119775" lIns="119775" spcFirstLastPara="1" rIns="119775" wrap="square" tIns="11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t/>
            </a:r>
            <a:endParaRPr b="0" i="0" sz="18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1" name="Google Shape;81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4648" y="3815257"/>
            <a:ext cx="200767" cy="200767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8"/>
          <p:cNvSpPr/>
          <p:nvPr/>
        </p:nvSpPr>
        <p:spPr>
          <a:xfrm>
            <a:off x="6281877" y="4213204"/>
            <a:ext cx="19539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41"/>
              <a:buFont typeface="Tomorrow"/>
              <a:buNone/>
            </a:pPr>
            <a:r>
              <a:rPr b="0" i="0" lang="pt-BR" sz="1441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Sistema de Arquivos</a:t>
            </a:r>
            <a:endParaRPr b="0" i="0" sz="14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8"/>
          <p:cNvSpPr/>
          <p:nvPr/>
        </p:nvSpPr>
        <p:spPr>
          <a:xfrm>
            <a:off x="6281877" y="4490255"/>
            <a:ext cx="47988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114"/>
              <a:buFont typeface="Tomorrow"/>
              <a:buNone/>
            </a:pPr>
            <a:r>
              <a:rPr b="0" i="0" lang="pt-BR" sz="1114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Organização de dados em armazenamento</a:t>
            </a:r>
            <a:endParaRPr b="0" i="0" sz="11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8"/>
          <p:cNvSpPr/>
          <p:nvPr/>
        </p:nvSpPr>
        <p:spPr>
          <a:xfrm>
            <a:off x="962388" y="4891947"/>
            <a:ext cx="5096400" cy="1273500"/>
          </a:xfrm>
          <a:prstGeom prst="roundRect">
            <a:avLst>
              <a:gd fmla="val 1752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ctr" bIns="119775" lIns="119775" spcFirstLastPara="1" rIns="119775" wrap="square" tIns="11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t/>
            </a:r>
            <a:endParaRPr b="0" i="0" sz="18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8"/>
          <p:cNvSpPr/>
          <p:nvPr/>
        </p:nvSpPr>
        <p:spPr>
          <a:xfrm>
            <a:off x="1111054" y="5040611"/>
            <a:ext cx="446100" cy="446100"/>
          </a:xfrm>
          <a:prstGeom prst="roundRect">
            <a:avLst>
              <a:gd fmla="val 26841062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ctr" bIns="119775" lIns="119775" spcFirstLastPara="1" rIns="119775" wrap="square" tIns="11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t/>
            </a:r>
            <a:endParaRPr b="0" i="0" sz="18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86" name="Google Shape;8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33823" y="5163382"/>
            <a:ext cx="200767" cy="200767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8"/>
          <p:cNvSpPr/>
          <p:nvPr/>
        </p:nvSpPr>
        <p:spPr>
          <a:xfrm>
            <a:off x="1111054" y="5561330"/>
            <a:ext cx="18600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41"/>
              <a:buFont typeface="Tomorrow"/>
              <a:buNone/>
            </a:pPr>
            <a:r>
              <a:rPr b="0" i="0" lang="pt-BR" sz="1441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Entrada e Saída</a:t>
            </a:r>
            <a:endParaRPr b="0" i="0" sz="14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1111054" y="5838380"/>
            <a:ext cx="47988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114"/>
              <a:buFont typeface="Tomorrow"/>
              <a:buNone/>
            </a:pPr>
            <a:r>
              <a:rPr b="0" i="0" lang="pt-BR" sz="1114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Comunicação com dispositivos externos</a:t>
            </a:r>
            <a:endParaRPr b="0" i="0" sz="11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6133213" y="4891947"/>
            <a:ext cx="5096400" cy="1273500"/>
          </a:xfrm>
          <a:prstGeom prst="roundRect">
            <a:avLst>
              <a:gd fmla="val 1752" name="adj"/>
            </a:avLst>
          </a:prstGeom>
          <a:solidFill>
            <a:srgbClr val="F0EAEA"/>
          </a:solidFill>
          <a:ln>
            <a:noFill/>
          </a:ln>
        </p:spPr>
        <p:txBody>
          <a:bodyPr anchorCtr="0" anchor="ctr" bIns="119775" lIns="119775" spcFirstLastPara="1" rIns="119775" wrap="square" tIns="11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t/>
            </a:r>
            <a:endParaRPr b="0" i="0" sz="18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8"/>
          <p:cNvSpPr/>
          <p:nvPr/>
        </p:nvSpPr>
        <p:spPr>
          <a:xfrm>
            <a:off x="6281877" y="5040611"/>
            <a:ext cx="446100" cy="446100"/>
          </a:xfrm>
          <a:prstGeom prst="roundRect">
            <a:avLst>
              <a:gd fmla="val 26841062" name="adj"/>
            </a:avLst>
          </a:prstGeom>
          <a:solidFill>
            <a:srgbClr val="1D1D1B"/>
          </a:solidFill>
          <a:ln>
            <a:noFill/>
          </a:ln>
        </p:spPr>
        <p:txBody>
          <a:bodyPr anchorCtr="0" anchor="ctr" bIns="119775" lIns="119775" spcFirstLastPara="1" rIns="119775" wrap="square" tIns="119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34"/>
              <a:buFont typeface="Arial"/>
              <a:buNone/>
            </a:pPr>
            <a:r>
              <a:t/>
            </a:r>
            <a:endParaRPr b="0" i="0" sz="183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91" name="Google Shape;91;p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04648" y="5163382"/>
            <a:ext cx="200767" cy="200767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8"/>
          <p:cNvSpPr/>
          <p:nvPr/>
        </p:nvSpPr>
        <p:spPr>
          <a:xfrm>
            <a:off x="6281877" y="5561330"/>
            <a:ext cx="1860000" cy="2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72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41"/>
              <a:buFont typeface="Tomorrow"/>
              <a:buNone/>
            </a:pPr>
            <a:r>
              <a:rPr b="0" i="0" lang="pt-BR" sz="1441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Drivers</a:t>
            </a:r>
            <a:endParaRPr b="0" i="0" sz="1441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8"/>
          <p:cNvSpPr/>
          <p:nvPr/>
        </p:nvSpPr>
        <p:spPr>
          <a:xfrm>
            <a:off x="6281877" y="5838380"/>
            <a:ext cx="4798800" cy="1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529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114"/>
              <a:buFont typeface="Tomorrow"/>
              <a:buNone/>
            </a:pPr>
            <a:r>
              <a:rPr b="0" i="0" lang="pt-BR" sz="1114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Interface com hardware específico</a:t>
            </a:r>
            <a:endParaRPr b="0" i="0" sz="111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Componentes do Sistema Operacional</a:t>
            </a:r>
            <a:endParaRPr/>
          </a:p>
        </p:txBody>
      </p:sp>
      <p:pic>
        <p:nvPicPr>
          <p:cNvPr descr="preencoded.png" id="100" name="Google Shape;10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5076" y="1898851"/>
            <a:ext cx="9661853" cy="4421724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"/>
          <p:cNvSpPr/>
          <p:nvPr/>
        </p:nvSpPr>
        <p:spPr>
          <a:xfrm>
            <a:off x="8342452" y="2512712"/>
            <a:ext cx="21372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64"/>
              <a:buFont typeface="Tomorrow"/>
              <a:buNone/>
            </a:pPr>
            <a:r>
              <a:rPr b="0" i="0" lang="pt-BR" sz="1664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Hardware</a:t>
            </a:r>
            <a:endParaRPr b="0" i="0" sz="16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9"/>
          <p:cNvSpPr/>
          <p:nvPr/>
        </p:nvSpPr>
        <p:spPr>
          <a:xfrm>
            <a:off x="8342452" y="2855869"/>
            <a:ext cx="2355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238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295"/>
              <a:buFont typeface="Tomorrow"/>
              <a:buNone/>
            </a:pPr>
            <a:r>
              <a:rPr b="0" i="0" lang="pt-BR" sz="1295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CPU, memória e dispositivos físicos</a:t>
            </a:r>
            <a:endParaRPr b="0" i="0" sz="12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9"/>
          <p:cNvSpPr/>
          <p:nvPr/>
        </p:nvSpPr>
        <p:spPr>
          <a:xfrm>
            <a:off x="1493535" y="3832502"/>
            <a:ext cx="2165700" cy="5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64"/>
              <a:buFont typeface="Tomorrow"/>
              <a:buNone/>
            </a:pPr>
            <a:r>
              <a:rPr b="0" i="0" lang="pt-BR" sz="1664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Sistema Operacional</a:t>
            </a:r>
            <a:endParaRPr b="0" i="0" sz="16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9"/>
          <p:cNvSpPr/>
          <p:nvPr/>
        </p:nvSpPr>
        <p:spPr>
          <a:xfrm>
            <a:off x="1493535" y="4442823"/>
            <a:ext cx="21657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5238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295"/>
              <a:buFont typeface="Tomorrow"/>
              <a:buNone/>
            </a:pPr>
            <a:r>
              <a:rPr b="0" i="0" lang="pt-BR" sz="1295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Kernel, gerenciamento de recursos</a:t>
            </a:r>
            <a:endParaRPr b="0" i="0" sz="12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9"/>
          <p:cNvSpPr/>
          <p:nvPr/>
        </p:nvSpPr>
        <p:spPr>
          <a:xfrm>
            <a:off x="8342452" y="4716518"/>
            <a:ext cx="2137200" cy="2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25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664"/>
              <a:buFont typeface="Tomorrow"/>
              <a:buNone/>
            </a:pPr>
            <a:r>
              <a:rPr b="0" i="0" lang="pt-BR" sz="1664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Aplicações</a:t>
            </a:r>
            <a:endParaRPr b="0" i="0" sz="166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9"/>
          <p:cNvSpPr/>
          <p:nvPr/>
        </p:nvSpPr>
        <p:spPr>
          <a:xfrm>
            <a:off x="8342452" y="5059676"/>
            <a:ext cx="23559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5238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295"/>
              <a:buFont typeface="Tomorrow"/>
              <a:buNone/>
            </a:pPr>
            <a:r>
              <a:rPr b="0" i="0" lang="pt-BR" sz="1295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Interfaces e software do usuário</a:t>
            </a:r>
            <a:endParaRPr b="0" i="0" sz="129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Responsabilidades Principais: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just">
              <a:spcBef>
                <a:spcPts val="2100"/>
              </a:spcBef>
              <a:spcAft>
                <a:spcPts val="0"/>
              </a:spcAft>
              <a:buSzPts val="2300"/>
              <a:buFont typeface="Roboto"/>
              <a:buChar char="●"/>
            </a:pPr>
            <a:r>
              <a:rPr lang="pt-BR" sz="2300">
                <a:latin typeface="Roboto"/>
                <a:ea typeface="Roboto"/>
                <a:cs typeface="Roboto"/>
                <a:sym typeface="Roboto"/>
              </a:rPr>
              <a:t>Gerenciamento de processos e threads 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SzPts val="2300"/>
              <a:buFont typeface="Roboto"/>
              <a:buChar char="●"/>
            </a:pPr>
            <a:r>
              <a:rPr lang="pt-BR" sz="2300">
                <a:latin typeface="Roboto"/>
                <a:ea typeface="Roboto"/>
                <a:cs typeface="Roboto"/>
                <a:sym typeface="Roboto"/>
              </a:rPr>
              <a:t>Controle de memória física e virtual 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SzPts val="2300"/>
              <a:buFont typeface="Roboto"/>
              <a:buChar char="●"/>
            </a:pPr>
            <a:r>
              <a:rPr lang="pt-BR" sz="2300">
                <a:latin typeface="Roboto"/>
                <a:ea typeface="Roboto"/>
                <a:cs typeface="Roboto"/>
                <a:sym typeface="Roboto"/>
              </a:rPr>
              <a:t>Controle de dispositivos e periféricos 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SzPts val="2300"/>
              <a:buFont typeface="Roboto"/>
              <a:buChar char="●"/>
            </a:pPr>
            <a:r>
              <a:rPr lang="pt-BR" sz="2300">
                <a:latin typeface="Roboto"/>
                <a:ea typeface="Roboto"/>
                <a:cs typeface="Roboto"/>
                <a:sym typeface="Roboto"/>
              </a:rPr>
              <a:t>Comunicação entre hardware e software 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  <a:p>
            <a:pPr indent="-374650" lvl="0" marL="457200" rtl="0" algn="just">
              <a:spcBef>
                <a:spcPts val="0"/>
              </a:spcBef>
              <a:spcAft>
                <a:spcPts val="0"/>
              </a:spcAft>
              <a:buSzPts val="2300"/>
              <a:buFont typeface="Roboto"/>
              <a:buChar char="●"/>
            </a:pPr>
            <a:r>
              <a:rPr lang="pt-BR" sz="2300">
                <a:latin typeface="Roboto"/>
                <a:ea typeface="Roboto"/>
                <a:cs typeface="Roboto"/>
                <a:sym typeface="Roboto"/>
              </a:rPr>
              <a:t>Proteção e segurança do sistema</a:t>
            </a:r>
            <a:endParaRPr sz="23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1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Kernel: O Núcleo do Sistema</a:t>
            </a:r>
            <a:endParaRPr/>
          </a:p>
        </p:txBody>
      </p:sp>
      <p:pic>
        <p:nvPicPr>
          <p:cNvPr descr="preencoded.png" id="114" name="Google Shape;114;p10"/>
          <p:cNvPicPr preferRelativeResize="0"/>
          <p:nvPr/>
        </p:nvPicPr>
        <p:blipFill rotWithShape="1">
          <a:blip r:embed="rId3">
            <a:alphaModFix/>
          </a:blip>
          <a:srcRect b="0" l="0" r="36273" t="0"/>
          <a:stretch/>
        </p:blipFill>
        <p:spPr>
          <a:xfrm>
            <a:off x="6605902" y="1982600"/>
            <a:ext cx="5127096" cy="4490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Modos de Execução</a:t>
            </a:r>
            <a:endParaRPr/>
          </a:p>
        </p:txBody>
      </p:sp>
      <p:pic>
        <p:nvPicPr>
          <p:cNvPr descr="preencoded.png" id="121" name="Google Shape;12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8948" y="1928724"/>
            <a:ext cx="5317014" cy="7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1"/>
          <p:cNvSpPr/>
          <p:nvPr/>
        </p:nvSpPr>
        <p:spPr>
          <a:xfrm>
            <a:off x="963873" y="2853352"/>
            <a:ext cx="2311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94"/>
              <a:buFont typeface="Tomorrow"/>
              <a:buNone/>
            </a:pPr>
            <a:r>
              <a:rPr i="0" lang="pt-BR" sz="1794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Modo Usuário</a:t>
            </a:r>
            <a:endParaRPr i="0" sz="1794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3" name="Google Shape;123;p11"/>
          <p:cNvSpPr/>
          <p:nvPr/>
        </p:nvSpPr>
        <p:spPr>
          <a:xfrm>
            <a:off x="963873" y="3253199"/>
            <a:ext cx="4947300" cy="5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27"/>
              <a:buFont typeface="Tomorrow"/>
              <a:buNone/>
            </a:pPr>
            <a:r>
              <a:rPr i="0" lang="pt-BR" sz="1427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Aplicações executam aqui com acesso limitado ao hardware</a:t>
            </a:r>
            <a:endParaRPr i="0" sz="142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124" name="Google Shape;12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5961" y="1928724"/>
            <a:ext cx="5317014" cy="7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1"/>
          <p:cNvSpPr/>
          <p:nvPr/>
        </p:nvSpPr>
        <p:spPr>
          <a:xfrm>
            <a:off x="6280886" y="2853352"/>
            <a:ext cx="2311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94"/>
              <a:buFont typeface="Tomorrow"/>
              <a:buNone/>
            </a:pPr>
            <a:r>
              <a:rPr i="0" lang="pt-BR" sz="1794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System Call</a:t>
            </a:r>
            <a:endParaRPr i="0" sz="1794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11"/>
          <p:cNvSpPr/>
          <p:nvPr/>
        </p:nvSpPr>
        <p:spPr>
          <a:xfrm>
            <a:off x="6280886" y="3253199"/>
            <a:ext cx="49473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27"/>
              <a:buFont typeface="Tomorrow"/>
              <a:buNone/>
            </a:pPr>
            <a:r>
              <a:rPr i="0" lang="pt-BR" sz="1427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Chamada de sistema solicita serviço do kernel</a:t>
            </a:r>
            <a:endParaRPr i="0" sz="142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127" name="Google Shape;12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8948" y="4029887"/>
            <a:ext cx="5317014" cy="7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1"/>
          <p:cNvSpPr/>
          <p:nvPr/>
        </p:nvSpPr>
        <p:spPr>
          <a:xfrm>
            <a:off x="963873" y="4954515"/>
            <a:ext cx="2311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94"/>
              <a:buFont typeface="Tomorrow"/>
              <a:buNone/>
            </a:pPr>
            <a:r>
              <a:rPr i="0" lang="pt-BR" sz="1794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Modo Kernel</a:t>
            </a:r>
            <a:endParaRPr i="0" sz="1794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9" name="Google Shape;129;p11"/>
          <p:cNvSpPr/>
          <p:nvPr/>
        </p:nvSpPr>
        <p:spPr>
          <a:xfrm>
            <a:off x="963873" y="5354362"/>
            <a:ext cx="49473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27"/>
              <a:buFont typeface="Tomorrow"/>
              <a:buNone/>
            </a:pPr>
            <a:r>
              <a:rPr i="0" lang="pt-BR" sz="1427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Executa funções críticas com acesso total aos recursos</a:t>
            </a:r>
            <a:endParaRPr i="0" sz="142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descr="preencoded.png" id="130" name="Google Shape;13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5961" y="4029887"/>
            <a:ext cx="5317014" cy="7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1"/>
          <p:cNvSpPr/>
          <p:nvPr/>
        </p:nvSpPr>
        <p:spPr>
          <a:xfrm>
            <a:off x="6280886" y="4954515"/>
            <a:ext cx="23118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94"/>
              <a:buFont typeface="Tomorrow"/>
              <a:buNone/>
            </a:pPr>
            <a:r>
              <a:rPr i="0" lang="pt-BR" sz="1794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Hardware</a:t>
            </a:r>
            <a:endParaRPr i="0" sz="1794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" name="Google Shape;132;p11"/>
          <p:cNvSpPr/>
          <p:nvPr/>
        </p:nvSpPr>
        <p:spPr>
          <a:xfrm>
            <a:off x="6280886" y="5354362"/>
            <a:ext cx="49473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27"/>
              <a:buFont typeface="Tomorrow"/>
              <a:buNone/>
            </a:pPr>
            <a:r>
              <a:rPr i="0" lang="pt-BR" sz="1427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Acesso direto aos dispositivos físicos</a:t>
            </a:r>
            <a:endParaRPr i="0" sz="142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3" name="Google Shape;133;p11"/>
          <p:cNvSpPr/>
          <p:nvPr/>
        </p:nvSpPr>
        <p:spPr>
          <a:xfrm>
            <a:off x="778948" y="5959323"/>
            <a:ext cx="10634100" cy="5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427"/>
              <a:buFont typeface="Tomorrow"/>
              <a:buNone/>
            </a:pPr>
            <a:r>
              <a:rPr i="0" lang="pt-BR" sz="1627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Essa separação garante </a:t>
            </a:r>
            <a:r>
              <a:rPr b="1" i="0" lang="pt-BR" sz="1627" u="none" cap="none" strike="noStrike">
                <a:solidFill>
                  <a:srgbClr val="1D1D1B"/>
                </a:solidFill>
                <a:latin typeface="Roboto"/>
                <a:ea typeface="Roboto"/>
                <a:cs typeface="Roboto"/>
                <a:sym typeface="Roboto"/>
              </a:rPr>
              <a:t>segurança</a:t>
            </a:r>
            <a:r>
              <a:rPr i="0" lang="pt-BR" sz="1627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 e </a:t>
            </a:r>
            <a:r>
              <a:rPr b="1" i="0" lang="pt-BR" sz="1627" u="none" cap="none" strike="noStrike">
                <a:solidFill>
                  <a:srgbClr val="1D1D1B"/>
                </a:solidFill>
                <a:latin typeface="Roboto"/>
                <a:ea typeface="Roboto"/>
                <a:cs typeface="Roboto"/>
                <a:sym typeface="Roboto"/>
              </a:rPr>
              <a:t>estabilidade</a:t>
            </a:r>
            <a:r>
              <a:rPr i="0" lang="pt-BR" sz="1627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 do sistema, impedindo que aplicações maliciosas ou com defeito afetem o funcionamento do sistema operacional.</a:t>
            </a:r>
            <a:endParaRPr i="0" sz="1627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210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Um processo é um programa em execução, com seu próprio espaço de memória e recursos alocados pelo sistema operacional. Componentes do Processo Código executável (text) Dados do programa Pilha (stack) para funções Registradores do CPU Arquivos abertos e recursos.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0" name="Google Shape;140;p1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Processos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3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pt-BR"/>
              <a:t>Programa: Arquivo armazenado no disco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pt-BR"/>
              <a:t>Processo: Programa carregado e executando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pt-BR"/>
              <a:t>Thread: Fluxo de execução dentro de um processo</a:t>
            </a:r>
            <a:endParaRPr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Google Chrome = aplicação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Chrome.exe = processo</a:t>
            </a:r>
            <a:endParaRPr sz="2200"/>
          </a:p>
          <a:p>
            <a:pPr indent="-368300" lvl="0" marL="457200" rtl="0" algn="just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pt-BR" sz="2200"/>
              <a:t>Abas/tarefas podem utilizar diferentes threads </a:t>
            </a:r>
            <a:endParaRPr sz="2200"/>
          </a:p>
        </p:txBody>
      </p:sp>
      <p:sp>
        <p:nvSpPr>
          <p:cNvPr id="147" name="Google Shape;147;p1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Processo × Programa × Thread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 de Revisão</a:t>
            </a:r>
            <a:endParaRPr/>
          </a:p>
        </p:txBody>
      </p:sp>
      <p:pic>
        <p:nvPicPr>
          <p:cNvPr id="154" name="Google Shape;154;p14"/>
          <p:cNvPicPr preferRelativeResize="0"/>
          <p:nvPr/>
        </p:nvPicPr>
        <p:blipFill rotWithShape="1">
          <a:blip r:embed="rId3">
            <a:alphaModFix/>
          </a:blip>
          <a:srcRect b="36575" l="0" r="0" t="33922"/>
          <a:stretch/>
        </p:blipFill>
        <p:spPr>
          <a:xfrm>
            <a:off x="562063" y="2414125"/>
            <a:ext cx="11067875" cy="3265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 txBox="1"/>
          <p:nvPr>
            <p:ph idx="1" type="body"/>
          </p:nvPr>
        </p:nvSpPr>
        <p:spPr>
          <a:xfrm>
            <a:off x="459000" y="1982600"/>
            <a:ext cx="69417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sistema de arquivos organiza dados em uma estrutura hierárquica de diretórios, facilitando a localização e gerenciamento de informações.</a:t>
            </a:r>
            <a:endParaRPr/>
          </a:p>
          <a:p>
            <a:pPr indent="0" lvl="0" marL="0" rtl="0" algn="just">
              <a:spcBef>
                <a:spcPts val="2100"/>
              </a:spcBef>
              <a:spcAft>
                <a:spcPts val="210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5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Sistema de Arquivos</a:t>
            </a:r>
            <a:endParaRPr/>
          </a:p>
        </p:txBody>
      </p:sp>
      <p:pic>
        <p:nvPicPr>
          <p:cNvPr id="162" name="Google Shape;16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40925" y="1162750"/>
            <a:ext cx="3087751" cy="48625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 txBox="1"/>
          <p:nvPr/>
        </p:nvSpPr>
        <p:spPr>
          <a:xfrm>
            <a:off x="7854700" y="6025350"/>
            <a:ext cx="346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Fonte</a:t>
            </a:r>
            <a:r>
              <a:rPr lang="pt-BR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pt-BR" sz="17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materialpublic.imd.ufrn.br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6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Entrada/Saída e Drivers de Dispositivos</a:t>
            </a:r>
            <a:endParaRPr/>
          </a:p>
        </p:txBody>
      </p:sp>
      <p:pic>
        <p:nvPicPr>
          <p:cNvPr descr="preencoded.png" id="170" name="Google Shape;17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6849" y="2456749"/>
            <a:ext cx="495483" cy="495483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6"/>
          <p:cNvSpPr/>
          <p:nvPr/>
        </p:nvSpPr>
        <p:spPr>
          <a:xfrm>
            <a:off x="1140076" y="2456749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923"/>
              <a:buFont typeface="Tomorrow"/>
              <a:buNone/>
            </a:pPr>
            <a:r>
              <a:rPr b="0" i="0" lang="pt-BR" sz="1923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Teclado</a:t>
            </a:r>
            <a:endParaRPr b="0" i="0" sz="19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1140076" y="2885328"/>
            <a:ext cx="28911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29"/>
              <a:buFont typeface="Tomorrow"/>
              <a:buNone/>
            </a:pPr>
            <a:r>
              <a:rPr b="0" i="0" lang="pt-BR" sz="1529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Converte teclas pressionadas em caracteres</a:t>
            </a:r>
            <a:endParaRPr b="0" i="0" sz="152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3" name="Google Shape;17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78845" y="2456749"/>
            <a:ext cx="495483" cy="49548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/>
          <p:nvPr/>
        </p:nvSpPr>
        <p:spPr>
          <a:xfrm>
            <a:off x="5022073" y="2456749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923"/>
              <a:buFont typeface="Tomorrow"/>
              <a:buNone/>
            </a:pPr>
            <a:r>
              <a:rPr b="0" i="0" lang="pt-BR" sz="1923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Mouse</a:t>
            </a:r>
            <a:endParaRPr b="0" i="0" sz="19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6"/>
          <p:cNvSpPr/>
          <p:nvPr/>
        </p:nvSpPr>
        <p:spPr>
          <a:xfrm>
            <a:off x="5022073" y="2885328"/>
            <a:ext cx="28911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29"/>
              <a:buFont typeface="Tomorrow"/>
              <a:buNone/>
            </a:pPr>
            <a:r>
              <a:rPr b="0" i="0" lang="pt-BR" sz="1529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Gerencia movimento e cliques do cursor</a:t>
            </a:r>
            <a:endParaRPr b="0" i="0" sz="152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6" name="Google Shape;17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60840" y="2456749"/>
            <a:ext cx="495483" cy="495483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"/>
          <p:cNvSpPr/>
          <p:nvPr/>
        </p:nvSpPr>
        <p:spPr>
          <a:xfrm>
            <a:off x="8904069" y="2456749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923"/>
              <a:buFont typeface="Tomorrow"/>
              <a:buNone/>
            </a:pPr>
            <a:r>
              <a:rPr b="0" i="0" lang="pt-BR" sz="1923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Disco</a:t>
            </a:r>
            <a:endParaRPr b="0" i="0" sz="19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8904069" y="2885328"/>
            <a:ext cx="28911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29"/>
              <a:buFont typeface="Tomorrow"/>
              <a:buNone/>
            </a:pPr>
            <a:r>
              <a:rPr b="0" i="0" lang="pt-BR" sz="1529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Controla leitura e escrita em armazenamento</a:t>
            </a:r>
            <a:endParaRPr b="0" i="0" sz="152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9" name="Google Shape;17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6849" y="3916040"/>
            <a:ext cx="495483" cy="495483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6"/>
          <p:cNvSpPr/>
          <p:nvPr/>
        </p:nvSpPr>
        <p:spPr>
          <a:xfrm>
            <a:off x="1140076" y="3916040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923"/>
              <a:buFont typeface="Tomorrow"/>
              <a:buNone/>
            </a:pPr>
            <a:r>
              <a:rPr b="0" i="0" lang="pt-BR" sz="1923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Rede</a:t>
            </a:r>
            <a:endParaRPr b="0" i="0" sz="19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1140076" y="4344619"/>
            <a:ext cx="28911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29"/>
              <a:buFont typeface="Tomorrow"/>
              <a:buNone/>
            </a:pPr>
            <a:r>
              <a:rPr b="0" i="0" lang="pt-BR" sz="1529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Gerencia comunicação entre computadores</a:t>
            </a:r>
            <a:endParaRPr b="0" i="0" sz="152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2" name="Google Shape;18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78845" y="3916040"/>
            <a:ext cx="495483" cy="49548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6"/>
          <p:cNvSpPr/>
          <p:nvPr/>
        </p:nvSpPr>
        <p:spPr>
          <a:xfrm>
            <a:off x="5022073" y="3916040"/>
            <a:ext cx="2477700" cy="3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923"/>
              <a:buFont typeface="Tomorrow"/>
              <a:buNone/>
            </a:pPr>
            <a:r>
              <a:rPr b="0" i="0" lang="pt-BR" sz="1923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Impressora</a:t>
            </a:r>
            <a:endParaRPr b="0" i="0" sz="192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6"/>
          <p:cNvSpPr/>
          <p:nvPr/>
        </p:nvSpPr>
        <p:spPr>
          <a:xfrm>
            <a:off x="5022073" y="4344619"/>
            <a:ext cx="28911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529"/>
              <a:buFont typeface="Tomorrow"/>
              <a:buNone/>
            </a:pPr>
            <a:r>
              <a:rPr b="0" i="0" lang="pt-BR" sz="1529" u="none" cap="none" strike="noStrike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Envia documentos para impressão</a:t>
            </a:r>
            <a:endParaRPr b="0" i="0" sz="152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605100" y="5613425"/>
            <a:ext cx="109818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0" lvl="0" marL="0" marR="0" rtl="0" algn="just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61615C"/>
              </a:buClr>
              <a:buSzPts val="1750"/>
              <a:buFont typeface="Tomorrow"/>
              <a:buNone/>
            </a:pPr>
            <a:r>
              <a:rPr i="0" lang="pt-BR" sz="200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Os </a:t>
            </a:r>
            <a:r>
              <a:rPr b="1" i="0" lang="pt-BR" sz="2000" u="none" cap="none" strike="noStrike">
                <a:solidFill>
                  <a:srgbClr val="1D1D1B"/>
                </a:solidFill>
                <a:latin typeface="Roboto"/>
                <a:ea typeface="Roboto"/>
                <a:cs typeface="Roboto"/>
                <a:sym typeface="Roboto"/>
              </a:rPr>
              <a:t>drivers de dispositivos</a:t>
            </a:r>
            <a:r>
              <a:rPr i="0" lang="pt-BR" sz="2000" u="none" cap="none" strike="noStrike">
                <a:solidFill>
                  <a:srgbClr val="61615C"/>
                </a:solidFill>
                <a:latin typeface="Roboto"/>
                <a:ea typeface="Roboto"/>
                <a:cs typeface="Roboto"/>
                <a:sym typeface="Roboto"/>
              </a:rPr>
              <a:t> são módulos que permitem ao sistema operacional comunicar-se com diferentes tipos de hardware, abstraindo complexidades específicas de cada dispositivo.</a:t>
            </a:r>
            <a:endParaRPr i="0" sz="20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lang="pt-BR"/>
              <a:t>Acessem o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roteiro da atividade</a:t>
            </a:r>
            <a:r>
              <a:rPr lang="pt-BR"/>
              <a:t> disponível no repositório da disciplina e analisem todas as etapas da tarefa antes de iniciar</a:t>
            </a:r>
            <a:endParaRPr/>
          </a:p>
          <a:p>
            <a:pPr indent="-431800" lvl="0" marL="457200" rtl="0" algn="just">
              <a:spcBef>
                <a:spcPts val="0"/>
              </a:spcBef>
              <a:spcAft>
                <a:spcPts val="0"/>
              </a:spcAft>
              <a:buSzPts val="3200"/>
              <a:buAutoNum type="arabicPeriod"/>
            </a:pPr>
            <a:r>
              <a:rPr lang="pt-BR"/>
              <a:t>Elaborem uma descrição completa do processo de formatação e instalação de um Sistema Operacional, seguindo as etapas apresentadas no roteiro. </a:t>
            </a:r>
            <a:endParaRPr/>
          </a:p>
        </p:txBody>
      </p:sp>
      <p:sp>
        <p:nvSpPr>
          <p:cNvPr id="192" name="Google Shape;192;p17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 01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8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2100"/>
              </a:spcAft>
              <a:buNone/>
            </a:pPr>
            <a:r>
              <a:rPr lang="pt-BR"/>
              <a:t>3. </a:t>
            </a:r>
            <a:r>
              <a:rPr lang="pt-BR"/>
              <a:t>Organizem o resultado em um arquivo Markdown, apresentando o processo de forma clara, técnica e sequencial. Para cada etapa, expliquem o que acontece, quais componentes do Sistema Operacional estão envolvidos e por que eles são importantes naquele momento. Ao finalizar, salvem o arquivo no repositório da disciplina.</a:t>
            </a:r>
            <a:endParaRPr/>
          </a:p>
        </p:txBody>
      </p:sp>
      <p:sp>
        <p:nvSpPr>
          <p:cNvPr id="199" name="Google Shape;199;p18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 01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2100"/>
              </a:spcAft>
              <a:buNone/>
            </a:pPr>
            <a:r>
              <a:rPr lang="pt-BR"/>
              <a:t>A maioria dos dispositivos não cria um sistema operacional do zero. Em vez disso, utilizam sistemas existentes e os adaptam para seu hardware específico. Vantagens Redução de custo de desenvolvimento Maior estabilidade e segurança Reutilização de tecnologias existentes Suporte e atualizações contínuas.</a:t>
            </a:r>
            <a:endParaRPr/>
          </a:p>
        </p:txBody>
      </p:sp>
      <p:sp>
        <p:nvSpPr>
          <p:cNvPr id="206" name="Google Shape;206;p19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Reaproveitamento da </a:t>
            </a:r>
            <a:r>
              <a:rPr lang="pt-BR"/>
              <a:t>Estrutura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2100"/>
              </a:spcAft>
              <a:buNone/>
            </a:pPr>
            <a:r>
              <a:rPr lang="pt-BR"/>
              <a:t>O Raspberry Pi utiliza o Raspberry Pi OS, que é uma adaptação do Debian, uma distribuição do Linux.</a:t>
            </a:r>
            <a:endParaRPr/>
          </a:p>
        </p:txBody>
      </p:sp>
      <p:sp>
        <p:nvSpPr>
          <p:cNvPr id="213" name="Google Shape;213;p20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Reaproveitamento da Estrutura</a:t>
            </a:r>
            <a:endParaRPr/>
          </a:p>
        </p:txBody>
      </p:sp>
      <p:pic>
        <p:nvPicPr>
          <p:cNvPr id="214" name="Google Shape;214;p20"/>
          <p:cNvPicPr preferRelativeResize="0"/>
          <p:nvPr/>
        </p:nvPicPr>
        <p:blipFill rotWithShape="1">
          <a:blip r:embed="rId3">
            <a:alphaModFix/>
          </a:blip>
          <a:srcRect b="17518" l="0" r="0" t="13621"/>
          <a:stretch/>
        </p:blipFill>
        <p:spPr>
          <a:xfrm>
            <a:off x="2292400" y="3613775"/>
            <a:ext cx="7607201" cy="2946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0"/>
          <p:cNvSpPr txBox="1"/>
          <p:nvPr/>
        </p:nvSpPr>
        <p:spPr>
          <a:xfrm>
            <a:off x="6439400" y="3205800"/>
            <a:ext cx="346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Fonte</a:t>
            </a:r>
            <a:r>
              <a:rPr lang="pt-BR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pt-BR" sz="17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canaltech.com.br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1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2100"/>
              </a:spcAft>
              <a:buNone/>
            </a:pPr>
            <a:r>
              <a:rPr lang="pt-BR"/>
              <a:t>O PlayStation 4 usa um sistema operacional chamado Orbis OS, baseado no FreeBSD.</a:t>
            </a:r>
            <a:endParaRPr/>
          </a:p>
        </p:txBody>
      </p:sp>
      <p:sp>
        <p:nvSpPr>
          <p:cNvPr id="222" name="Google Shape;222;p21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Reaproveitamento da Estrutura</a:t>
            </a:r>
            <a:endParaRPr/>
          </a:p>
        </p:txBody>
      </p:sp>
      <p:pic>
        <p:nvPicPr>
          <p:cNvPr id="223" name="Google Shape;223;p21"/>
          <p:cNvPicPr preferRelativeResize="0"/>
          <p:nvPr/>
        </p:nvPicPr>
        <p:blipFill rotWithShape="1">
          <a:blip r:embed="rId3">
            <a:alphaModFix/>
          </a:blip>
          <a:srcRect b="21694" l="0" r="0" t="19033"/>
          <a:stretch/>
        </p:blipFill>
        <p:spPr>
          <a:xfrm>
            <a:off x="2612313" y="3501975"/>
            <a:ext cx="6967373" cy="309740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6439400" y="3205800"/>
            <a:ext cx="3460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Fonte</a:t>
            </a:r>
            <a:r>
              <a:rPr lang="pt-BR" sz="17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pt-BR" sz="17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4"/>
              </a:rPr>
              <a:t> </a:t>
            </a:r>
            <a:r>
              <a:rPr lang="pt-BR" sz="1700" u="sng">
                <a:solidFill>
                  <a:schemeClr val="hlink"/>
                </a:solidFill>
                <a:latin typeface="Lato"/>
                <a:ea typeface="Lato"/>
                <a:cs typeface="Lato"/>
                <a:sym typeface="Lato"/>
                <a:hlinkClick r:id="rId5"/>
              </a:rPr>
              <a:t>ubuy.com.br</a:t>
            </a:r>
            <a:endParaRPr sz="17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ct val="73913"/>
              <a:buNone/>
            </a:pPr>
            <a:r>
              <a:rPr b="1" lang="pt-BR" sz="4600"/>
              <a:t>Atividade 02</a:t>
            </a:r>
            <a:endParaRPr b="1" sz="4600"/>
          </a:p>
        </p:txBody>
      </p:sp>
      <p:sp>
        <p:nvSpPr>
          <p:cNvPr id="230" name="Google Shape;230;p22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None/>
            </a:pPr>
            <a:r>
              <a:rPr lang="pt-BR">
                <a:latin typeface="Roboto"/>
                <a:ea typeface="Roboto"/>
                <a:cs typeface="Roboto"/>
                <a:sym typeface="Roboto"/>
              </a:rPr>
              <a:t>1. 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Baseando-se nos exemplos apresentados em aula sobre Sistemas Operacionais que 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utilizam</a:t>
            </a:r>
            <a:r>
              <a:rPr lang="pt-BR">
                <a:latin typeface="Roboto"/>
                <a:ea typeface="Roboto"/>
                <a:cs typeface="Roboto"/>
                <a:sym typeface="Roboto"/>
              </a:rPr>
              <a:t> ou se baseiam em outros sistemas, realizem uma pesquisa e identifiquem 5 Sistemas Operacionais que foram desenvolvidos a partir de outro sistema operacional ou que utilizam sua base (kernel, arquitetura ou estrutura).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2F6D"/>
              </a:buClr>
              <a:buSzPct val="73913"/>
              <a:buNone/>
            </a:pPr>
            <a:r>
              <a:rPr b="1" lang="pt-BR" sz="4600"/>
              <a:t>Atividade 02</a:t>
            </a:r>
            <a:endParaRPr b="1" sz="4600"/>
          </a:p>
        </p:txBody>
      </p:sp>
      <p:sp>
        <p:nvSpPr>
          <p:cNvPr id="236" name="Google Shape;236;p23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2. Após a pesquisa, elaborem uma tabela comparativa apresentando as diferenças entre cada sistema operacional e o sistema que serviu como base para seu desenvolvimento.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2100"/>
              </a:spcBef>
              <a:spcAft>
                <a:spcPts val="2100"/>
              </a:spcAft>
              <a:buNone/>
            </a:pPr>
            <a:r>
              <a:rPr lang="pt-BR"/>
              <a:t>3. Organizem o resultado da pesquisa em um arquivo no formato Markdown e salvem no repositório da disciplina.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4"/>
          <p:cNvSpPr txBox="1"/>
          <p:nvPr>
            <p:ph type="title"/>
          </p:nvPr>
        </p:nvSpPr>
        <p:spPr>
          <a:xfrm>
            <a:off x="459000" y="976900"/>
            <a:ext cx="11274000" cy="713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Referências</a:t>
            </a:r>
            <a:endParaRPr/>
          </a:p>
        </p:txBody>
      </p:sp>
      <p:sp>
        <p:nvSpPr>
          <p:cNvPr id="243" name="Google Shape;243;p24"/>
          <p:cNvSpPr txBox="1"/>
          <p:nvPr>
            <p:ph idx="1" type="body"/>
          </p:nvPr>
        </p:nvSpPr>
        <p:spPr>
          <a:xfrm>
            <a:off x="459000" y="1982600"/>
            <a:ext cx="11274000" cy="3920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TANENBAUM, Andrew S.; BOS, Herbert. Sistemas Operacionais Modernos. 4. ed. São Paulo: Pearson, 2016.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SILBERSCHATZ, Abraham; GALVIN, Peter B.; GAGNE, Greg. Fundamentos de Sistemas Operacionais. 9. ed. Rio de Janeiro: LTC, 2015.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STALLINGS, William. Sistemas Operacionais: Conceitos e Projetos. 8. ed. São Paulo: Pearson, 2015.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DENARDIN, G. W.; BARRIQUELLO, C. H. Sistemas Operacionais de Tempo Real e sua Aplicação em Sistemas Embarcados. Porto Alegre: Editora da UFRGS, 2014.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AWASTHI, A.; RAWAT, V. Ramificação e Tarefas do Sistema Operacional. Edições Nosso Conhecimento, 2023.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DOWNEY, Allen B. Think OS: A Brief Introduction to Operating Systems. Green Tea Press, 2015.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RED HAT. Red Hat Enterprise Linux – System Administration Guide. Documentação Oficial.</a:t>
            </a:r>
            <a:endParaRPr sz="2040"/>
          </a:p>
          <a:p>
            <a:pPr indent="-35814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40"/>
              <a:buChar char="●"/>
            </a:pPr>
            <a:r>
              <a:rPr lang="pt-BR" sz="2040"/>
              <a:t>DOCKER INC. Docker Documentation. Documentação Oficial. Disponível em: https://docs.docker.com</a:t>
            </a:r>
            <a:endParaRPr sz="204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5"/>
          <p:cNvSpPr txBox="1"/>
          <p:nvPr>
            <p:ph type="ctrTitle"/>
          </p:nvPr>
        </p:nvSpPr>
        <p:spPr>
          <a:xfrm>
            <a:off x="970600" y="2581950"/>
            <a:ext cx="10250700" cy="1728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500">
                <a:solidFill>
                  <a:srgbClr val="202529"/>
                </a:solidFill>
              </a:rPr>
              <a:t>Estrutura e Arquitetura de Sistemas Operacionais</a:t>
            </a:r>
            <a:endParaRPr sz="4500">
              <a:solidFill>
                <a:srgbClr val="202529"/>
              </a:solidFill>
            </a:endParaRPr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599400" y="5165567"/>
            <a:ext cx="10993200" cy="1167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Prof. Me. Deivison S. Takatu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deivison.takatu@fatec.sp.gov.br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Banded_Design_Teal">
      <a:dk1>
        <a:srgbClr val="363D3D"/>
      </a:dk1>
      <a:lt1>
        <a:srgbClr val="FFFFFF"/>
      </a:lt1>
      <a:dk2>
        <a:srgbClr val="000000"/>
      </a:dk2>
      <a:lt2>
        <a:srgbClr val="E5E8E8"/>
      </a:lt2>
      <a:accent1>
        <a:srgbClr val="3AAFB2"/>
      </a:accent1>
      <a:accent2>
        <a:srgbClr val="6ABD45"/>
      </a:accent2>
      <a:accent3>
        <a:srgbClr val="EBCA21"/>
      </a:accent3>
      <a:accent4>
        <a:srgbClr val="EB8D21"/>
      </a:accent4>
      <a:accent5>
        <a:srgbClr val="EB5638"/>
      </a:accent5>
      <a:accent6>
        <a:srgbClr val="5172B1"/>
      </a:accent6>
      <a:hlink>
        <a:srgbClr val="3A9CDB"/>
      </a:hlink>
      <a:folHlink>
        <a:srgbClr val="5172B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